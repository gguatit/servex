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4368" y="169164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5902726" y="1940723"/>
            <a:ext cx="386243" cy="131674"/>
          </a:xfrm>
          <a:prstGeom prst="roundRect">
            <a:avLst>
              <a:gd name="adj" fmla="val 20833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02726" y="2133844"/>
            <a:ext cx="386243" cy="131674"/>
          </a:xfrm>
          <a:prstGeom prst="roundRect">
            <a:avLst>
              <a:gd name="adj" fmla="val 20833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59785" y="1986808"/>
            <a:ext cx="30724" cy="30724"/>
          </a:xfrm>
          <a:prstGeom prst="roundRect">
            <a:avLst>
              <a:gd name="adj" fmla="val 59523"/>
            </a:avLst>
          </a:prstGeom>
          <a:solidFill>
            <a:srgbClr val="4C8DFF"/>
          </a:solidFill>
          <a:ln/>
        </p:spPr>
      </p:sp>
      <p:sp>
        <p:nvSpPr>
          <p:cNvPr id="6" name="Shape 4"/>
          <p:cNvSpPr/>
          <p:nvPr/>
        </p:nvSpPr>
        <p:spPr>
          <a:xfrm>
            <a:off x="5959785" y="2179930"/>
            <a:ext cx="30724" cy="30724"/>
          </a:xfrm>
          <a:prstGeom prst="roundRect">
            <a:avLst>
              <a:gd name="adj" fmla="val 59523"/>
            </a:avLst>
          </a:prstGeom>
          <a:solidFill>
            <a:srgbClr val="4C8D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0" y="2697480"/>
            <a:ext cx="12191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0" y="36118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서버를 한눈에 관제하는 안드로이드 앱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26768" y="43891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26768" y="4389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우선 · 미니멀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52848" y="438912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52848" y="4389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직접 접속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96048" y="438912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96048" y="4389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GPL-3.0 오픈소스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제안서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시스템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하나로 색·타이포·컴포넌트를 통일합니다.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COLOR TOKENS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F1115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78992" y="21305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23042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#0F1115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78992" y="26974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Surface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8712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#1A1D23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32826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32732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78992" y="32644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Surface Variant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34381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#232732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384962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E6E9EF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78992" y="38313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On-Surface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4005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#E6E9EF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441655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8A9099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78992" y="439826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On-Variant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78992" y="45720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#8A9099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20440" y="21488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4C8DFF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59352" y="21305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959352" y="23042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#4C8DFF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20440" y="27157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3DDC8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59352" y="26974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Success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959352" y="28712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#3DDC84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20440" y="32826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C93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959352" y="32644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959352" y="34381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#FFC93C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520440" y="384962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5C5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959352" y="38313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3959352" y="4005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#FF5C5C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520440" y="441655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959352" y="439826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3959352" y="45720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#6B7280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1828800"/>
            <a:ext cx="4693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TYPOGRAPHY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858000" y="20848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7498080" y="21214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092440" y="21762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686800" y="2240280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28 / 14 / 11 sp · Sans · 수치는 tabular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858000" y="2788920"/>
            <a:ext cx="4693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BUTTONS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858000" y="3035808"/>
            <a:ext cx="1508760" cy="420624"/>
          </a:xfrm>
          <a:prstGeom prst="roundRect">
            <a:avLst>
              <a:gd name="adj" fmla="val 21739"/>
            </a:avLst>
          </a:prstGeom>
          <a:solidFill>
            <a:srgbClr val="4C8D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858000" y="303580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710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522208" y="3035808"/>
            <a:ext cx="1508760" cy="420624"/>
          </a:xfrm>
          <a:prstGeom prst="roundRect">
            <a:avLst>
              <a:gd name="adj" fmla="val 21739"/>
            </a:avLst>
          </a:prstGeom>
          <a:solidFill>
            <a:srgbClr val="0F1115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522208" y="303580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0" y="3703320"/>
            <a:ext cx="4693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858000" y="395020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858000" y="39502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DD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001000" y="3950208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001000" y="39502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C9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189720" y="3950208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189720" y="395020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5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241280" y="395020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10241280" y="39502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6858000" y="4553712"/>
            <a:ext cx="4693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ICONS  ·  직접 그린 벡터 (이모지 미사용)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898965" y="4961169"/>
            <a:ext cx="61448" cy="66568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6960413" y="4884359"/>
            <a:ext cx="112654" cy="143378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178040" y="4843394"/>
            <a:ext cx="256032" cy="230429"/>
          </a:xfrm>
          <a:prstGeom prst="triangle">
            <a:avLst/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306056" y="4925324"/>
            <a:ext cx="0" cy="56327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294535" y="5002134"/>
            <a:ext cx="23043" cy="23043"/>
          </a:xfrm>
          <a:prstGeom prst="roundRect">
            <a:avLst>
              <a:gd name="adj" fmla="val 79365"/>
            </a:avLst>
          </a:prstGeom>
          <a:solidFill>
            <a:srgbClr val="E6E9EF"/>
          </a:solidFill>
          <a:ln/>
        </p:spPr>
      </p:sp>
      <p:sp>
        <p:nvSpPr>
          <p:cNvPr id="61" name="Shape 59"/>
          <p:cNvSpPr/>
          <p:nvPr/>
        </p:nvSpPr>
        <p:spPr>
          <a:xfrm>
            <a:off x="7498080" y="4828032"/>
            <a:ext cx="256032" cy="256032"/>
          </a:xfrm>
          <a:prstGeom prst="ellipse">
            <a:avLst/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74890" y="4904842"/>
            <a:ext cx="102413" cy="102413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H="1">
            <a:off x="7574890" y="4904842"/>
            <a:ext cx="102413" cy="102413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818120" y="4848515"/>
            <a:ext cx="256032" cy="184343"/>
          </a:xfrm>
          <a:prstGeom prst="cloud">
            <a:avLst/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43723" y="4853635"/>
            <a:ext cx="204826" cy="204826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09849" y="4899721"/>
            <a:ext cx="112654" cy="112654"/>
          </a:xfrm>
          <a:prstGeom prst="roundRect">
            <a:avLst>
              <a:gd name="adj" fmla="val 24351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266176" y="4848515"/>
            <a:ext cx="0" cy="40965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266176" y="5022616"/>
            <a:ext cx="0" cy="40965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158643" y="4956048"/>
            <a:ext cx="40965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332744" y="4956048"/>
            <a:ext cx="40965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473562" y="4871557"/>
            <a:ext cx="225308" cy="66568"/>
          </a:xfrm>
          <a:prstGeom prst="roundRect">
            <a:avLst>
              <a:gd name="adj" fmla="val 41209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473562" y="4973970"/>
            <a:ext cx="225308" cy="66568"/>
          </a:xfrm>
          <a:prstGeom prst="roundRect">
            <a:avLst>
              <a:gd name="adj" fmla="val 41209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93602" y="4861316"/>
            <a:ext cx="225308" cy="76810"/>
          </a:xfrm>
          <a:prstGeom prst="roundRect">
            <a:avLst>
              <a:gd name="adj" fmla="val 35714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793602" y="4973970"/>
            <a:ext cx="225308" cy="76810"/>
          </a:xfrm>
          <a:prstGeom prst="roundRect">
            <a:avLst>
              <a:gd name="adj" fmla="val 35714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826886" y="4888200"/>
            <a:ext cx="17922" cy="17922"/>
          </a:xfrm>
          <a:prstGeom prst="roundRect">
            <a:avLst>
              <a:gd name="adj" fmla="val 102042"/>
            </a:avLst>
          </a:prstGeom>
          <a:solidFill>
            <a:srgbClr val="E6E9EF"/>
          </a:solidFill>
          <a:ln/>
        </p:spPr>
      </p:sp>
      <p:sp>
        <p:nvSpPr>
          <p:cNvPr id="76" name="Shape 74"/>
          <p:cNvSpPr/>
          <p:nvPr/>
        </p:nvSpPr>
        <p:spPr>
          <a:xfrm>
            <a:off x="8826886" y="5000854"/>
            <a:ext cx="17922" cy="17922"/>
          </a:xfrm>
          <a:prstGeom prst="roundRect">
            <a:avLst>
              <a:gd name="adj" fmla="val 102042"/>
            </a:avLst>
          </a:prstGeom>
          <a:solidFill>
            <a:srgbClr val="E6E9EF"/>
          </a:solidFill>
          <a:ln/>
        </p:spPr>
      </p:sp>
      <p:sp>
        <p:nvSpPr>
          <p:cNvPr id="77" name="Shape 75"/>
          <p:cNvSpPr/>
          <p:nvPr/>
        </p:nvSpPr>
        <p:spPr>
          <a:xfrm>
            <a:off x="9118763" y="4930445"/>
            <a:ext cx="184343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5400000">
            <a:off x="9287744" y="4897161"/>
            <a:ext cx="56327" cy="66568"/>
          </a:xfrm>
          <a:prstGeom prst="triangle">
            <a:avLst/>
          </a:prstGeom>
          <a:solidFill>
            <a:srgbClr val="E6E9EF"/>
          </a:solidFill>
          <a:ln/>
        </p:spPr>
      </p:sp>
      <p:sp>
        <p:nvSpPr>
          <p:cNvPr id="79" name="Shape 77"/>
          <p:cNvSpPr/>
          <p:nvPr/>
        </p:nvSpPr>
        <p:spPr>
          <a:xfrm>
            <a:off x="9149486" y="4986772"/>
            <a:ext cx="184343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16200000">
            <a:off x="9108521" y="4953488"/>
            <a:ext cx="56327" cy="66568"/>
          </a:xfrm>
          <a:prstGeom prst="triangle">
            <a:avLst/>
          </a:prstGeom>
          <a:solidFill>
            <a:srgbClr val="E6E9EF"/>
          </a:solidFill>
          <a:ln/>
        </p:spPr>
      </p:sp>
      <p:sp>
        <p:nvSpPr>
          <p:cNvPr id="81" name="Shape 79"/>
          <p:cNvSpPr/>
          <p:nvPr/>
        </p:nvSpPr>
        <p:spPr>
          <a:xfrm>
            <a:off x="9418320" y="4828032"/>
            <a:ext cx="256032" cy="256032"/>
          </a:xfrm>
          <a:prstGeom prst="circularArrow">
            <a:avLst/>
          </a:prstGeom>
          <a:solidFill>
            <a:srgbClr val="E6E9EF"/>
          </a:solidFill>
          <a:ln/>
        </p:spPr>
      </p:sp>
      <p:sp>
        <p:nvSpPr>
          <p:cNvPr id="82" name="Shape 80"/>
          <p:cNvSpPr/>
          <p:nvPr/>
        </p:nvSpPr>
        <p:spPr>
          <a:xfrm>
            <a:off x="9738360" y="4828032"/>
            <a:ext cx="256032" cy="256032"/>
          </a:xfrm>
          <a:prstGeom prst="gear6">
            <a:avLst/>
          </a:prstGeom>
          <a:solidFill>
            <a:srgbClr val="E6E9EF"/>
          </a:solidFill>
          <a:ln/>
        </p:spPr>
      </p:sp>
      <p:sp>
        <p:nvSpPr>
          <p:cNvPr id="83" name="Shape 81"/>
          <p:cNvSpPr/>
          <p:nvPr/>
        </p:nvSpPr>
        <p:spPr>
          <a:xfrm flipH="1">
            <a:off x="10145451" y="4879238"/>
            <a:ext cx="71689" cy="7681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145451" y="4956048"/>
            <a:ext cx="71689" cy="7681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506456" y="4868997"/>
            <a:ext cx="0" cy="174102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419405" y="4956048"/>
            <a:ext cx="174102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10744566" y="4874118"/>
            <a:ext cx="128016" cy="128016"/>
          </a:xfrm>
          <a:prstGeom prst="line">
            <a:avLst/>
          </a:prstGeom>
          <a:noFill/>
          <a:ln w="24130">
            <a:solidFill>
              <a:srgbClr val="E6E9E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744566" y="5002134"/>
            <a:ext cx="40965" cy="15362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079968" y="4899721"/>
            <a:ext cx="133137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126053" y="4868997"/>
            <a:ext cx="40965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100450" y="4915083"/>
            <a:ext cx="92172" cy="122895"/>
          </a:xfrm>
          <a:prstGeom prst="roundRect">
            <a:avLst>
              <a:gd name="adj" fmla="val 29762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디자인 시스템</a:t>
            </a:r>
            <a:endParaRPr lang="en-US" sz="1000" dirty="0"/>
          </a:p>
        </p:txBody>
      </p:sp>
      <p:sp>
        <p:nvSpPr>
          <p:cNvPr id="94" name="Text 92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전 — 서버 연결 화면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주소와 토큰을 입력해 에이전트에 연결합니다.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2468880" cy="4434840"/>
          </a:xfrm>
          <a:prstGeom prst="roundRect">
            <a:avLst>
              <a:gd name="adj" fmla="val 11852"/>
            </a:avLst>
          </a:prstGeom>
          <a:solidFill>
            <a:srgbClr val="0F1115"/>
          </a:solidFill>
          <a:ln w="25400">
            <a:solidFill>
              <a:srgbClr val="2A2E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8928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9:41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87752" y="1938528"/>
            <a:ext cx="137160" cy="91440"/>
          </a:xfrm>
          <a:prstGeom prst="roundRect">
            <a:avLst>
              <a:gd name="adj" fmla="val 20000"/>
            </a:avLst>
          </a:prstGeom>
          <a:solidFill>
            <a:srgbClr val="8A9099"/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1929384"/>
            <a:ext cx="137160" cy="109728"/>
          </a:xfrm>
          <a:prstGeom prst="roundRect">
            <a:avLst>
              <a:gd name="adj" fmla="val 16667"/>
            </a:avLst>
          </a:prstGeom>
          <a:solidFill>
            <a:srgbClr val="8A9099"/>
          </a:solidFill>
          <a:ln/>
        </p:spPr>
      </p:sp>
      <p:sp>
        <p:nvSpPr>
          <p:cNvPr id="9" name="Shape 7"/>
          <p:cNvSpPr/>
          <p:nvPr/>
        </p:nvSpPr>
        <p:spPr>
          <a:xfrm>
            <a:off x="2935224" y="192024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8A9099"/>
          </a:solidFill>
          <a:ln/>
        </p:spPr>
      </p:sp>
      <p:sp>
        <p:nvSpPr>
          <p:cNvPr id="10" name="Shape 8"/>
          <p:cNvSpPr/>
          <p:nvPr/>
        </p:nvSpPr>
        <p:spPr>
          <a:xfrm>
            <a:off x="1883664" y="2167128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1B3A6B"/>
          </a:solidFill>
          <a:ln/>
        </p:spPr>
      </p:sp>
      <p:sp>
        <p:nvSpPr>
          <p:cNvPr id="11" name="Shape 9"/>
          <p:cNvSpPr/>
          <p:nvPr/>
        </p:nvSpPr>
        <p:spPr>
          <a:xfrm>
            <a:off x="1998513" y="2298619"/>
            <a:ext cx="209215" cy="71323"/>
          </a:xfrm>
          <a:prstGeom prst="roundRect">
            <a:avLst>
              <a:gd name="adj" fmla="val 38462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98513" y="2403226"/>
            <a:ext cx="209215" cy="71323"/>
          </a:xfrm>
          <a:prstGeom prst="roundRect">
            <a:avLst>
              <a:gd name="adj" fmla="val 38462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29419" y="2323582"/>
            <a:ext cx="16642" cy="16642"/>
          </a:xfrm>
          <a:prstGeom prst="roundRect">
            <a:avLst>
              <a:gd name="adj" fmla="val 109891"/>
            </a:avLst>
          </a:prstGeom>
          <a:solidFill>
            <a:srgbClr val="4C8D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029419" y="2428189"/>
            <a:ext cx="16642" cy="16642"/>
          </a:xfrm>
          <a:prstGeom prst="roundRect">
            <a:avLst>
              <a:gd name="adj" fmla="val 109891"/>
            </a:avLst>
          </a:prstGeom>
          <a:solidFill>
            <a:srgbClr val="4C8D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26791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 to a server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9535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 the agent address and token.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051560" y="32644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A1D23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52144" y="3310128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 address</a:t>
            </a:r>
            <a:endParaRPr lang="en-US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345643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https://web-01.lan:8765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51560" y="373989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52144" y="3785616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93192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••••••••••••••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051560" y="4233672"/>
            <a:ext cx="2103120" cy="420624"/>
          </a:xfrm>
          <a:prstGeom prst="roundRect">
            <a:avLst>
              <a:gd name="adj" fmla="val 21739"/>
            </a:avLst>
          </a:prstGeom>
          <a:solidFill>
            <a:srgbClr val="4C8D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51560" y="423367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710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rot="2700000">
            <a:off x="1051560" y="4764024"/>
            <a:ext cx="155448" cy="155448"/>
          </a:xfrm>
          <a:prstGeom prst="blockArc">
            <a:avLst/>
          </a:prstGeom>
          <a:solidFill>
            <a:srgbClr val="4C8D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80160" y="474573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Connecting…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492861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spc="10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SAVED SERVERS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051560" y="5129784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52144" y="51297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web-01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313432" y="5221224"/>
            <a:ext cx="566928" cy="164592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313432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650" dirty="0"/>
          </a:p>
        </p:txBody>
      </p:sp>
      <p:sp>
        <p:nvSpPr>
          <p:cNvPr id="32" name="Text 30"/>
          <p:cNvSpPr txBox="1"/>
          <p:nvPr/>
        </p:nvSpPr>
        <p:spPr>
          <a:xfrm>
            <a:off x="2971800" y="5129784"/>
            <a:ext cx="13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51560" y="5513832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152144" y="55138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db-01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313432" y="5605272"/>
            <a:ext cx="566928" cy="164592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313432" y="560527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650" dirty="0"/>
          </a:p>
        </p:txBody>
      </p:sp>
      <p:sp>
        <p:nvSpPr>
          <p:cNvPr id="37" name="Text 35"/>
          <p:cNvSpPr txBox="1"/>
          <p:nvPr/>
        </p:nvSpPr>
        <p:spPr>
          <a:xfrm>
            <a:off x="2971800" y="5513832"/>
            <a:ext cx="13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5916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 Add a new server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114800" y="21579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389120" y="210312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· 토큰 입력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4389120" y="238658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주소와 Bearer 토큰만 입력하면 연결됩니다.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114800" y="29809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389120" y="292608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진행 표시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4389120" y="320954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중에는 진행 상태를 명확히 보여줍니다.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114800" y="38039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389120" y="374904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Saved servers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4389120" y="403250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등록해 둔 서버로 즉시 재연결할 수 있습니다.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연결 전 화면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후 — 메인 화면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상태와 서버별 요약을 한눈에 확인합니다.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2468880" cy="4434840"/>
          </a:xfrm>
          <a:prstGeom prst="roundRect">
            <a:avLst>
              <a:gd name="adj" fmla="val 11852"/>
            </a:avLst>
          </a:prstGeom>
          <a:solidFill>
            <a:srgbClr val="0F1115"/>
          </a:solidFill>
          <a:ln w="25400">
            <a:solidFill>
              <a:srgbClr val="2A2E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8928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9:41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87752" y="1938528"/>
            <a:ext cx="137160" cy="91440"/>
          </a:xfrm>
          <a:prstGeom prst="roundRect">
            <a:avLst>
              <a:gd name="adj" fmla="val 20000"/>
            </a:avLst>
          </a:prstGeom>
          <a:solidFill>
            <a:srgbClr val="8A9099"/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1929384"/>
            <a:ext cx="137160" cy="109728"/>
          </a:xfrm>
          <a:prstGeom prst="roundRect">
            <a:avLst>
              <a:gd name="adj" fmla="val 16667"/>
            </a:avLst>
          </a:prstGeom>
          <a:solidFill>
            <a:srgbClr val="8A9099"/>
          </a:solidFill>
          <a:ln/>
        </p:spPr>
      </p:sp>
      <p:sp>
        <p:nvSpPr>
          <p:cNvPr id="9" name="Shape 7"/>
          <p:cNvSpPr/>
          <p:nvPr/>
        </p:nvSpPr>
        <p:spPr>
          <a:xfrm>
            <a:off x="2935224" y="192024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8A9099"/>
          </a:solidFill>
          <a:ln/>
        </p:spPr>
      </p:sp>
      <p:sp>
        <p:nvSpPr>
          <p:cNvPr id="10" name="Shape 8"/>
          <p:cNvSpPr/>
          <p:nvPr/>
        </p:nvSpPr>
        <p:spPr>
          <a:xfrm>
            <a:off x="1063630" y="2211568"/>
            <a:ext cx="177028" cy="60350"/>
          </a:xfrm>
          <a:prstGeom prst="roundRect">
            <a:avLst>
              <a:gd name="adj" fmla="val 45455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3630" y="2300082"/>
            <a:ext cx="177028" cy="60350"/>
          </a:xfrm>
          <a:prstGeom prst="roundRect">
            <a:avLst>
              <a:gd name="adj" fmla="val 45455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9782" y="2232690"/>
            <a:ext cx="14082" cy="14082"/>
          </a:xfrm>
          <a:prstGeom prst="roundRect">
            <a:avLst>
              <a:gd name="adj" fmla="val 129868"/>
            </a:avLst>
          </a:prstGeom>
          <a:solidFill>
            <a:srgbClr val="4C8D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9782" y="2321204"/>
            <a:ext cx="14082" cy="14082"/>
          </a:xfrm>
          <a:prstGeom prst="roundRect">
            <a:avLst>
              <a:gd name="adj" fmla="val 129868"/>
            </a:avLst>
          </a:prstGeom>
          <a:solidFill>
            <a:srgbClr val="4C8D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07592" y="21579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496312" y="2194560"/>
            <a:ext cx="182880" cy="182880"/>
          </a:xfrm>
          <a:prstGeom prst="circularArrow">
            <a:avLst/>
          </a:prstGeom>
          <a:solidFill>
            <a:srgbClr val="8A9099"/>
          </a:solidFill>
          <a:ln/>
        </p:spPr>
      </p:sp>
      <p:sp>
        <p:nvSpPr>
          <p:cNvPr id="16" name="Shape 14"/>
          <p:cNvSpPr/>
          <p:nvPr/>
        </p:nvSpPr>
        <p:spPr>
          <a:xfrm>
            <a:off x="2825496" y="2223821"/>
            <a:ext cx="0" cy="124358"/>
          </a:xfrm>
          <a:prstGeom prst="line">
            <a:avLst/>
          </a:prstGeom>
          <a:noFill/>
          <a:ln w="16510">
            <a:solidFill>
              <a:srgbClr val="8A90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63317" y="2286000"/>
            <a:ext cx="124358" cy="0"/>
          </a:xfrm>
          <a:prstGeom prst="line">
            <a:avLst/>
          </a:prstGeom>
          <a:noFill/>
          <a:ln w="16510">
            <a:solidFill>
              <a:srgbClr val="8A90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2194560"/>
            <a:ext cx="182880" cy="182880"/>
          </a:xfrm>
          <a:prstGeom prst="gear6">
            <a:avLst/>
          </a:prstGeom>
          <a:solidFill>
            <a:srgbClr val="8A9099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1560" y="2569464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3000" y="2692908"/>
            <a:ext cx="82296" cy="82296"/>
          </a:xfrm>
          <a:prstGeom prst="roundRect">
            <a:avLst>
              <a:gd name="adj" fmla="val 33333"/>
            </a:avLst>
          </a:prstGeom>
          <a:solidFill>
            <a:srgbClr val="3DDC8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71016" y="256946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435608" y="256946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148840" y="2569464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40280" y="2692908"/>
            <a:ext cx="82296" cy="82296"/>
          </a:xfrm>
          <a:prstGeom prst="roundRect">
            <a:avLst>
              <a:gd name="adj" fmla="val 33333"/>
            </a:avLst>
          </a:prstGeom>
          <a:solidFill>
            <a:srgbClr val="FFC93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368296" y="256946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2532888" y="256946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051560" y="2953512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3000" y="3076956"/>
            <a:ext cx="82296" cy="82296"/>
          </a:xfrm>
          <a:prstGeom prst="roundRect">
            <a:avLst>
              <a:gd name="adj" fmla="val 33333"/>
            </a:avLst>
          </a:prstGeom>
          <a:solidFill>
            <a:srgbClr val="FF5C5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271016" y="295351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435608" y="295351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148840" y="2953512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40280" y="3076956"/>
            <a:ext cx="82296" cy="82296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368296" y="295351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2532888" y="295351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051560" y="3410712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61288" y="34930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web-01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423160" y="3493008"/>
            <a:ext cx="621792" cy="173736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423160" y="3493008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3DD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</a:t>
            </a:r>
            <a:endParaRPr lang="en-US" sz="650" dirty="0"/>
          </a:p>
        </p:txBody>
      </p:sp>
      <p:sp>
        <p:nvSpPr>
          <p:cNvPr id="39" name="Text 37"/>
          <p:cNvSpPr txBox="1"/>
          <p:nvPr/>
        </p:nvSpPr>
        <p:spPr>
          <a:xfrm>
            <a:off x="1161288" y="36941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10.0.0.5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 flipV="1">
            <a:off x="1161288" y="4072128"/>
            <a:ext cx="269095" cy="79248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30383" y="4072128"/>
            <a:ext cx="269095" cy="39624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1699478" y="3992880"/>
            <a:ext cx="269095" cy="118872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68573" y="3992880"/>
            <a:ext cx="269095" cy="39624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2237667" y="3953256"/>
            <a:ext cx="269095" cy="79248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06762" y="3953256"/>
            <a:ext cx="269095" cy="39624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2775857" y="3913632"/>
            <a:ext cx="269095" cy="79248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51560" y="4325112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161288" y="44074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db-01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423160" y="4407408"/>
            <a:ext cx="621792" cy="173736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2423160" y="4407408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C9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endParaRPr lang="en-US" sz="650" dirty="0"/>
          </a:p>
        </p:txBody>
      </p:sp>
      <p:sp>
        <p:nvSpPr>
          <p:cNvPr id="51" name="Text 49"/>
          <p:cNvSpPr txBox="1"/>
          <p:nvPr/>
        </p:nvSpPr>
        <p:spPr>
          <a:xfrm>
            <a:off x="1161288" y="46085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10.0.0.9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1161288" y="5006340"/>
            <a:ext cx="269095" cy="59436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1430383" y="4946904"/>
            <a:ext cx="269095" cy="118872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699478" y="4946904"/>
            <a:ext cx="269095" cy="59436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1968573" y="4887468"/>
            <a:ext cx="269095" cy="118872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37667" y="4887468"/>
            <a:ext cx="269095" cy="118872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2506762" y="4828032"/>
            <a:ext cx="269095" cy="178308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75857" y="4828032"/>
            <a:ext cx="269095" cy="59436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51560" y="5239512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161288" y="5321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nas-01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423160" y="5321808"/>
            <a:ext cx="621792" cy="173736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2423160" y="5321808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650" dirty="0"/>
          </a:p>
        </p:txBody>
      </p:sp>
      <p:sp>
        <p:nvSpPr>
          <p:cNvPr id="63" name="Text 61"/>
          <p:cNvSpPr txBox="1"/>
          <p:nvPr/>
        </p:nvSpPr>
        <p:spPr>
          <a:xfrm>
            <a:off x="1161288" y="55229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10.0.0.13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1161288" y="5861304"/>
            <a:ext cx="188366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88920" y="56692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/>
          <a:effectLst>
            <a:outerShdw sx="100000" sy="100000" kx="0" ky="0" algn="bl" rotWithShape="0" blurRad="76200" dist="25400" dir="5400000">
              <a:srgbClr val="000000">
                <a:alpha val="4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971800" y="5789981"/>
            <a:ext cx="0" cy="124358"/>
          </a:xfrm>
          <a:prstGeom prst="line">
            <a:avLst/>
          </a:prstGeom>
          <a:noFill/>
          <a:ln w="16510">
            <a:solidFill>
              <a:srgbClr val="07101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09621" y="5852160"/>
            <a:ext cx="124358" cy="0"/>
          </a:xfrm>
          <a:prstGeom prst="line">
            <a:avLst/>
          </a:prstGeom>
          <a:noFill/>
          <a:ln w="16510">
            <a:solidFill>
              <a:srgbClr val="07101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114800" y="21579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4389120" y="210312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스트립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4389120" y="238658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정상·주의·오류·오프라인 개수를 즉시 파악합니다.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4114800" y="29809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4389120" y="292608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카드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4389120" y="320954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· 상태 · 주소 · 최근 CPU 추이(스파크라인)를 담습니다.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4114800" y="38039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4389120" y="374904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상세로 이동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4389120" y="403250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카드를 누르면 CPU/MEM/DISK 그래프와 액션 화면으로 이동합니다.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연결 후 메인 화면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타이포그래피 스케일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위계는 제목 → 주요 수치 → 본문 → 보조 라벨 순서로만 만듭니다.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20025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titleLarge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258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sp · Bold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화면·카드 제목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71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0083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headlineMedium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2644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sp · SemiBold · tabular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1363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수치 (CPU / MEM / DISK)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77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Ubuntu 24.04 · up 4d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4014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bodyMedium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4270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sp · Regular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41422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행·값·설명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9834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UPTIME · LOAD · MOUNT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50200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labelSmall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5276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sp · 자간 0.4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5148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라벨·단위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숫자는 tabular(고정폭) 정렬로 흔들리지 않게 하고, 본문 대비는 4.5:1 이상을 유지합니다.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디자인 상세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 토큰 상세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토큰만 사용하고 화면마다 임의의 색을 만들지 않습니다.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F1115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63040" y="2029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#0F1115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2148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배경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63040" y="2898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Surface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#1A1D23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카드·패널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32732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63040" y="3767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Surface Variant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#232732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배경·구분 영역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6177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E6E9EF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463040" y="4636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On-Surface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892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#E6E9EF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4754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글자·수치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4864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8A9099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63040" y="55046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On-Variant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760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#8A9099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5623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글자·라벨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201168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4C8DFF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0" y="2029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#4C8DFF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326880" y="2148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포인트·선택·버튼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28803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3DDC8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32320" y="2898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Success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#3DDC84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32688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37490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C93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32320" y="3767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13232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#FFC93C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32688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(≥ 75%)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46177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5C5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132320" y="4636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4892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#FF5C5C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9326880" y="4754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(≥ 90%)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09360" y="54864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6B7280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132320" y="55046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7132320" y="5760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#6B7280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9326880" y="5623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디자인 상세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버튼·상태칩·입력·스위치의 상태를 일관되게 유지합니다.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BUTTONS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4C8D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240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10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224028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0F1115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77440" y="2240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Outlined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22402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F111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1480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Ghost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7889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Pressed 는 색만 어둡게(위치 이동 없음), Disabled 는 35% 투명도.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2461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5204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3DD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5204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828800" y="35204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9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08960" y="352044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108960" y="35204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5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06240" y="35204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206240" y="35204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0233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상태는 항상 색 + 아이콘 + 텍스트 3요소로 표시합니다.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1965960"/>
            <a:ext cx="4876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75120" y="2240280"/>
            <a:ext cx="4876495" cy="731520"/>
          </a:xfrm>
          <a:prstGeom prst="roundRect">
            <a:avLst>
              <a:gd name="adj" fmla="val 10000"/>
            </a:avLst>
          </a:prstGeom>
          <a:solidFill>
            <a:srgbClr val="1A1D23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39712" y="2331720"/>
            <a:ext cx="45473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Address (host or host:port)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839712" y="2578608"/>
            <a:ext cx="45473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192.168.0.10:8765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3063240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포커스는 primary 테두리(1.5)로만 표시합니다.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3520440"/>
            <a:ext cx="4876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SWITCH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3794760"/>
            <a:ext cx="3687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Background alerts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545775" y="382219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1140135" y="384962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디자인 상세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아이콘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그린 선형 벡터만 사용합니다 (24dp · 2dp · 둥근 끝). 이모지 금지.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0" y="2011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60397" y="2408530"/>
            <a:ext cx="98755" cy="106985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359152" y="2285086"/>
            <a:ext cx="181051" cy="230429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0360" y="2011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2219249"/>
            <a:ext cx="411480" cy="370332"/>
          </a:xfrm>
          <a:prstGeom prst="triangle">
            <a:avLst/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8980" y="2350922"/>
            <a:ext cx="0" cy="90526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50463" y="2474366"/>
            <a:ext cx="37033" cy="37033"/>
          </a:xfrm>
          <a:prstGeom prst="roundRect">
            <a:avLst>
              <a:gd name="adj" fmla="val 49383"/>
            </a:avLst>
          </a:prstGeom>
          <a:solidFill>
            <a:srgbClr val="E6E9EF"/>
          </a:solidFill>
          <a:ln/>
        </p:spPr>
      </p:sp>
      <p:sp>
        <p:nvSpPr>
          <p:cNvPr id="13" name="Shape 11"/>
          <p:cNvSpPr/>
          <p:nvPr/>
        </p:nvSpPr>
        <p:spPr>
          <a:xfrm>
            <a:off x="3749040" y="2011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0" y="2194560"/>
            <a:ext cx="411480" cy="411480"/>
          </a:xfrm>
          <a:prstGeom prst="ellipse">
            <a:avLst/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55364" y="2318004"/>
            <a:ext cx="164592" cy="164592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4055364" y="2318004"/>
            <a:ext cx="164592" cy="164592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2011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2227478"/>
            <a:ext cx="411480" cy="296266"/>
          </a:xfrm>
          <a:prstGeom prst="cloud">
            <a:avLst/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1748" y="2235708"/>
            <a:ext cx="329184" cy="329184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246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11680" y="3154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09774" y="3452774"/>
            <a:ext cx="181051" cy="181051"/>
          </a:xfrm>
          <a:prstGeom prst="roundRect">
            <a:avLst>
              <a:gd name="adj" fmla="val 15152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00300" y="3370478"/>
            <a:ext cx="0" cy="65837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00300" y="3650285"/>
            <a:ext cx="0" cy="65837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7478" y="3543300"/>
            <a:ext cx="65837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07285" y="3543300"/>
            <a:ext cx="65837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80360" y="3154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87929" y="3407512"/>
            <a:ext cx="362102" cy="106985"/>
          </a:xfrm>
          <a:prstGeom prst="roundRect">
            <a:avLst>
              <a:gd name="adj" fmla="val 25641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87929" y="3572104"/>
            <a:ext cx="362102" cy="106985"/>
          </a:xfrm>
          <a:prstGeom prst="roundRect">
            <a:avLst>
              <a:gd name="adj" fmla="val 25641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49040" y="3154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56609" y="3391052"/>
            <a:ext cx="362102" cy="123444"/>
          </a:xfrm>
          <a:prstGeom prst="roundRect">
            <a:avLst>
              <a:gd name="adj" fmla="val 22222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56609" y="3572104"/>
            <a:ext cx="362102" cy="123444"/>
          </a:xfrm>
          <a:prstGeom prst="roundRect">
            <a:avLst>
              <a:gd name="adj" fmla="val 22222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10101" y="3434258"/>
            <a:ext cx="28804" cy="28804"/>
          </a:xfrm>
          <a:prstGeom prst="roundRect">
            <a:avLst>
              <a:gd name="adj" fmla="val 63491"/>
            </a:avLst>
          </a:prstGeom>
          <a:solidFill>
            <a:srgbClr val="E6E9EF"/>
          </a:solidFill>
          <a:ln/>
        </p:spPr>
      </p:sp>
      <p:sp>
        <p:nvSpPr>
          <p:cNvPr id="34" name="Shape 32"/>
          <p:cNvSpPr/>
          <p:nvPr/>
        </p:nvSpPr>
        <p:spPr>
          <a:xfrm>
            <a:off x="4010101" y="3615309"/>
            <a:ext cx="28804" cy="28804"/>
          </a:xfrm>
          <a:prstGeom prst="roundRect">
            <a:avLst>
              <a:gd name="adj" fmla="val 63491"/>
            </a:avLst>
          </a:prstGeom>
          <a:solidFill>
            <a:srgbClr val="E6E9EF"/>
          </a:solidFill>
          <a:ln/>
        </p:spPr>
      </p:sp>
      <p:sp>
        <p:nvSpPr>
          <p:cNvPr id="35" name="Shape 33"/>
          <p:cNvSpPr/>
          <p:nvPr/>
        </p:nvSpPr>
        <p:spPr>
          <a:xfrm>
            <a:off x="4617720" y="3154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33518" y="3502152"/>
            <a:ext cx="296266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5400000">
            <a:off x="5105095" y="3448660"/>
            <a:ext cx="90526" cy="106985"/>
          </a:xfrm>
          <a:prstGeom prst="triangle">
            <a:avLst/>
          </a:prstGeom>
          <a:solidFill>
            <a:srgbClr val="E6E9EF"/>
          </a:solidFill>
          <a:ln/>
        </p:spPr>
      </p:sp>
      <p:sp>
        <p:nvSpPr>
          <p:cNvPr id="38" name="Shape 36"/>
          <p:cNvSpPr/>
          <p:nvPr/>
        </p:nvSpPr>
        <p:spPr>
          <a:xfrm>
            <a:off x="4882896" y="3592678"/>
            <a:ext cx="296266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16200000">
            <a:off x="4817059" y="3539185"/>
            <a:ext cx="90526" cy="106985"/>
          </a:xfrm>
          <a:prstGeom prst="triangle">
            <a:avLst/>
          </a:prstGeom>
          <a:solidFill>
            <a:srgbClr val="E6E9E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0080" y="4389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011680" y="4297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94560" y="4480560"/>
            <a:ext cx="411480" cy="411480"/>
          </a:xfrm>
          <a:prstGeom prst="circularArrow">
            <a:avLst/>
          </a:prstGeom>
          <a:solidFill>
            <a:srgbClr val="E6E9EF"/>
          </a:solidFill>
          <a:ln/>
        </p:spPr>
      </p:sp>
      <p:sp>
        <p:nvSpPr>
          <p:cNvPr id="43" name="Shape 41"/>
          <p:cNvSpPr/>
          <p:nvPr/>
        </p:nvSpPr>
        <p:spPr>
          <a:xfrm>
            <a:off x="2880360" y="4297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63240" y="4480560"/>
            <a:ext cx="411480" cy="411480"/>
          </a:xfrm>
          <a:prstGeom prst="gear6">
            <a:avLst/>
          </a:prstGeom>
          <a:solidFill>
            <a:srgbClr val="E6E9EF"/>
          </a:solidFill>
          <a:ln/>
        </p:spPr>
      </p:sp>
      <p:sp>
        <p:nvSpPr>
          <p:cNvPr id="45" name="Shape 43"/>
          <p:cNvSpPr/>
          <p:nvPr/>
        </p:nvSpPr>
        <p:spPr>
          <a:xfrm>
            <a:off x="3749040" y="4297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H="1">
            <a:off x="4071823" y="4562856"/>
            <a:ext cx="115214" cy="123444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071823" y="4686300"/>
            <a:ext cx="115214" cy="123444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17720" y="4297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06340" y="4546397"/>
            <a:ext cx="0" cy="279806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66437" y="4686300"/>
            <a:ext cx="279806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0" y="4297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5743346" y="4554626"/>
            <a:ext cx="205740" cy="205740"/>
          </a:xfrm>
          <a:prstGeom prst="line">
            <a:avLst/>
          </a:prstGeom>
          <a:noFill/>
          <a:ln w="24130">
            <a:solidFill>
              <a:srgbClr val="E6E9E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743346" y="4760366"/>
            <a:ext cx="65837" cy="24689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55080" y="4297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36715" y="4595774"/>
            <a:ext cx="213970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10782" y="4546397"/>
            <a:ext cx="65837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669634" y="4620463"/>
            <a:ext cx="148133" cy="197510"/>
          </a:xfrm>
          <a:prstGeom prst="roundRect">
            <a:avLst>
              <a:gd name="adj" fmla="val 18518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40080" y="56692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 두께·둥근 끝·24dp 그리드를 모든 아이콘에서 동일하게 유지합니다.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디자인 상세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표시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수치·차트·바는 항상 같은 규칙으로 표시합니다.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BIG METRIC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265530" y="2317090"/>
            <a:ext cx="120701" cy="120701"/>
          </a:xfrm>
          <a:prstGeom prst="roundRect">
            <a:avLst>
              <a:gd name="adj" fmla="val 22727"/>
            </a:avLst>
          </a:prstGeom>
          <a:ln w="16510">
            <a:solidFill>
              <a:srgbClr val="8A90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2262226"/>
            <a:ext cx="0" cy="43891"/>
          </a:xfrm>
          <a:prstGeom prst="line">
            <a:avLst/>
          </a:prstGeom>
          <a:noFill/>
          <a:ln w="16510">
            <a:solidFill>
              <a:srgbClr val="8A90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2448763"/>
            <a:ext cx="0" cy="43891"/>
          </a:xfrm>
          <a:prstGeom prst="line">
            <a:avLst/>
          </a:prstGeom>
          <a:noFill/>
          <a:ln w="16510">
            <a:solidFill>
              <a:srgbClr val="8A90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10666" y="2377440"/>
            <a:ext cx="43891" cy="0"/>
          </a:xfrm>
          <a:prstGeom prst="line">
            <a:avLst/>
          </a:prstGeom>
          <a:noFill/>
          <a:ln w="16510">
            <a:solidFill>
              <a:srgbClr val="8A90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97203" y="2377440"/>
            <a:ext cx="43891" cy="0"/>
          </a:xfrm>
          <a:prstGeom prst="line">
            <a:avLst/>
          </a:prstGeom>
          <a:noFill/>
          <a:ln w="16510">
            <a:solidFill>
              <a:srgbClr val="8A90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37%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108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25419" y="2286914"/>
            <a:ext cx="241402" cy="71323"/>
          </a:xfrm>
          <a:prstGeom prst="roundRect">
            <a:avLst>
              <a:gd name="adj" fmla="val 38462"/>
            </a:avLst>
          </a:prstGeom>
          <a:ln w="16510">
            <a:solidFill>
              <a:srgbClr val="8A90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25419" y="2396642"/>
            <a:ext cx="241402" cy="71323"/>
          </a:xfrm>
          <a:prstGeom prst="roundRect">
            <a:avLst>
              <a:gd name="adj" fmla="val 38462"/>
            </a:avLst>
          </a:prstGeom>
          <a:ln w="16510">
            <a:solidFill>
              <a:srgbClr val="8A909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60320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54%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3108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45659" y="2275942"/>
            <a:ext cx="241402" cy="82296"/>
          </a:xfrm>
          <a:prstGeom prst="roundRect">
            <a:avLst>
              <a:gd name="adj" fmla="val 33333"/>
            </a:avLst>
          </a:prstGeom>
          <a:ln w="16510">
            <a:solidFill>
              <a:srgbClr val="8A90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45659" y="2396642"/>
            <a:ext cx="241402" cy="82296"/>
          </a:xfrm>
          <a:prstGeom prst="roundRect">
            <a:avLst>
              <a:gd name="adj" fmla="val 33333"/>
            </a:avLst>
          </a:prstGeom>
          <a:ln w="16510">
            <a:solidFill>
              <a:srgbClr val="8A90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81321" y="2304745"/>
            <a:ext cx="19202" cy="19202"/>
          </a:xfrm>
          <a:prstGeom prst="roundRect">
            <a:avLst>
              <a:gd name="adj" fmla="val 95240"/>
            </a:avLst>
          </a:prstGeom>
          <a:solidFill>
            <a:srgbClr val="8A9099"/>
          </a:solidFill>
          <a:ln/>
        </p:spPr>
      </p:sp>
      <p:sp>
        <p:nvSpPr>
          <p:cNvPr id="20" name="Shape 18"/>
          <p:cNvSpPr/>
          <p:nvPr/>
        </p:nvSpPr>
        <p:spPr>
          <a:xfrm>
            <a:off x="5081321" y="2425446"/>
            <a:ext cx="19202" cy="19202"/>
          </a:xfrm>
          <a:prstGeom prst="roundRect">
            <a:avLst>
              <a:gd name="adj" fmla="val 95240"/>
            </a:avLst>
          </a:prstGeom>
          <a:solidFill>
            <a:srgbClr val="8A909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80560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3108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DISK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5204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79476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2327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" y="38862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4389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10%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 flipV="1">
            <a:off x="1508760" y="4539343"/>
            <a:ext cx="640080" cy="489857"/>
          </a:xfrm>
          <a:prstGeom prst="line">
            <a:avLst/>
          </a:prstGeom>
          <a:noFill/>
          <a:ln w="20320">
            <a:solidFill>
              <a:srgbClr val="4C8D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48840" y="4539343"/>
            <a:ext cx="640080" cy="326571"/>
          </a:xfrm>
          <a:prstGeom prst="line">
            <a:avLst/>
          </a:prstGeom>
          <a:noFill/>
          <a:ln w="20320">
            <a:solidFill>
              <a:srgbClr val="4C8D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2788920" y="4212771"/>
            <a:ext cx="640080" cy="653143"/>
          </a:xfrm>
          <a:prstGeom prst="line">
            <a:avLst/>
          </a:prstGeom>
          <a:noFill/>
          <a:ln w="20320">
            <a:solidFill>
              <a:srgbClr val="4C8D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29000" y="4212771"/>
            <a:ext cx="640080" cy="489857"/>
          </a:xfrm>
          <a:prstGeom prst="line">
            <a:avLst/>
          </a:prstGeom>
          <a:noFill/>
          <a:ln w="20320">
            <a:solidFill>
              <a:srgbClr val="4C8D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4069080" y="4049486"/>
            <a:ext cx="640080" cy="653143"/>
          </a:xfrm>
          <a:prstGeom prst="line">
            <a:avLst/>
          </a:prstGeom>
          <a:noFill/>
          <a:ln w="20320">
            <a:solidFill>
              <a:srgbClr val="4C8D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4049486"/>
            <a:ext cx="640080" cy="326571"/>
          </a:xfrm>
          <a:prstGeom prst="line">
            <a:avLst/>
          </a:prstGeom>
          <a:noFill/>
          <a:ln w="20320">
            <a:solidFill>
              <a:srgbClr val="4C8D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5349240" y="3886200"/>
            <a:ext cx="640080" cy="489857"/>
          </a:xfrm>
          <a:prstGeom prst="line">
            <a:avLst/>
          </a:prstGeom>
          <a:noFill/>
          <a:ln w="20320">
            <a:solidFill>
              <a:srgbClr val="4C8D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52578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y축 숫자 눈금 + 자동 스케일 + 부드러운 곡선 + 현재값 표시.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675120" y="1965960"/>
            <a:ext cx="4876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BARS &amp; LISTS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75120" y="2240280"/>
            <a:ext cx="4876495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38" name="Shape 36"/>
          <p:cNvSpPr/>
          <p:nvPr/>
        </p:nvSpPr>
        <p:spPr>
          <a:xfrm>
            <a:off x="6675120" y="2240280"/>
            <a:ext cx="1940845" cy="365760"/>
          </a:xfrm>
          <a:prstGeom prst="roundRect">
            <a:avLst>
              <a:gd name="adj" fmla="val 50000"/>
            </a:avLst>
          </a:prstGeom>
          <a:solidFill>
            <a:srgbClr val="3DDC84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675120" y="2240280"/>
            <a:ext cx="4876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 39.8%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675120" y="2743200"/>
            <a:ext cx="4876495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41" name="Shape 39"/>
          <p:cNvSpPr/>
          <p:nvPr/>
        </p:nvSpPr>
        <p:spPr>
          <a:xfrm>
            <a:off x="6675120" y="2743200"/>
            <a:ext cx="3813419" cy="365760"/>
          </a:xfrm>
          <a:prstGeom prst="roundRect">
            <a:avLst>
              <a:gd name="adj" fmla="val 50000"/>
            </a:avLst>
          </a:prstGeom>
          <a:solidFill>
            <a:srgbClr val="FFC93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675120" y="2743200"/>
            <a:ext cx="4876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/data  78.2%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6675120" y="3291840"/>
            <a:ext cx="4876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nginx        cpu 12.9%   mem 1.2%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675120" y="3639312"/>
            <a:ext cx="4876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   cpu 8.1%    mem 8.4%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675120" y="3986784"/>
            <a:ext cx="4876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dockerd    cpu 5.2%    mem 2.1%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675120" y="4480560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수치는 tabular, 단위는 자동 포맷 (%, B/s).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디자인 상세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2026-10-15T00:33:36Z</dcterms:created>
  <dcterms:modified xsi:type="dcterms:W3CDTF">2026-10-15T00:33:36Z</dcterms:modified>
</cp:coreProperties>
</file>